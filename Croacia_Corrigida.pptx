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76240" y="603647"/>
            <a:ext cx="3591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350" b="1" spc="3" kern="0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A CROÁCIA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3086100" y="2096691"/>
            <a:ext cx="2971800" cy="1543050"/>
          </a:xfrm>
          <a:prstGeom prst="rect">
            <a:avLst/>
          </a:prstGeom>
          <a:solidFill>
            <a:srgbClr val="000000">
              <a:alpha val="0"/>
            </a:srgbClr>
          </a:solidFill>
          <a:ln w="54864">
            <a:solidFill>
              <a:srgbClr val="003399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0" y="2153841"/>
            <a:ext cx="2857500" cy="1428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528120" y="4082653"/>
            <a:ext cx="208776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Trabalho feito por: </a:t>
            </a:r>
            <a:r>
              <a:rPr lang="en-US" sz="12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r>
              <a:rPr lang="en-US" sz="1200" b="1" dirty="0">
                <a:solidFill>
                  <a:srgbClr val="CC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Lucca, Emily, Laura, Isadora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94112" y="285750"/>
            <a:ext cx="33557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Geografia da Croácia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261235"/>
            <a:ext cx="3929063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Localização Estratégica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28625" y="1707719"/>
            <a:ext cx="3929063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Croácia está situada no </a:t>
            </a:r>
            <a:r>
              <a:rPr lang="en-US" sz="11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Sudeste da Europa</a:t>
            </a: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ocupando </a:t>
            </a: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uma posição central na região dos </a:t>
            </a:r>
            <a:r>
              <a:rPr lang="en-US" sz="11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Bálcãs</a:t>
            </a: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28625" y="2353503"/>
            <a:ext cx="3929063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Seu território possui um extenso litoral banhado pelo </a:t>
            </a:r>
            <a:r>
              <a:rPr lang="en-US" sz="11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 Adriático</a:t>
            </a: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o que define grande parte de sua </a:t>
            </a: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economia e cultura.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28625" y="3250741"/>
            <a:ext cx="3929063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Faz fronteira com cinco nações: Eslovênia, Hungria, Sérvia, Bósnia e Herzegovina e Montenegro.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86313" y="1150144"/>
            <a:ext cx="3929063" cy="2857500"/>
          </a:xfrm>
          <a:prstGeom prst="rect">
            <a:avLst/>
          </a:prstGeom>
          <a:solidFill>
            <a:srgbClr val="FFFFFF"/>
          </a:solidFill>
          <a:ln w="54864">
            <a:solidFill>
              <a:srgbClr val="00339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313" y="1150144"/>
            <a:ext cx="392906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86968" y="285750"/>
            <a:ext cx="3370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Extensão e Território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47669" y="1318747"/>
            <a:ext cx="3571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56.594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47669" y="2075985"/>
            <a:ext cx="3571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Quilômetros Quadrados (km²)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7669" y="2518897"/>
            <a:ext cx="3571875" cy="14630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47669" y="2518897"/>
            <a:ext cx="3571875" cy="2857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8" name="Text 5"/>
          <p:cNvSpPr/>
          <p:nvPr/>
        </p:nvSpPr>
        <p:spPr>
          <a:xfrm>
            <a:off x="547669" y="2518897"/>
            <a:ext cx="3571875" cy="1463018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Croácia é classificada como um país de </a:t>
            </a:r>
            <a:r>
              <a:rPr lang="en-US" sz="11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extensão mediana</a:t>
            </a: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Para fins de comparação, </a:t>
            </a: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seu território é ligeiramente menor que o </a:t>
            </a: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estado brasileiro de </a:t>
            </a:r>
            <a:r>
              <a:rPr lang="en-US" sz="11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Alagoas</a:t>
            </a: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7213" y="1221581"/>
            <a:ext cx="3929063" cy="2857500"/>
          </a:xfrm>
          <a:prstGeom prst="rect">
            <a:avLst/>
          </a:prstGeom>
          <a:solidFill>
            <a:srgbClr val="FFFFFF"/>
          </a:solidFill>
          <a:ln w="54864">
            <a:solidFill>
              <a:srgbClr val="00339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13" y="1221581"/>
            <a:ext cx="392906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95910" y="285750"/>
            <a:ext cx="3152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População e Capital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47669" y="1221581"/>
            <a:ext cx="1264444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Demografia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7669" y="1646634"/>
            <a:ext cx="3571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Croácia possui uma população de aproximadamente </a:t>
            </a: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3,9 milhões de habitantes</a:t>
            </a: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7669" y="2103834"/>
            <a:ext cx="3571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grande maioria da população é de etnia croata, e o </a:t>
            </a: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idioma oficial falado em todo o território é o </a:t>
            </a: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croata</a:t>
            </a: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7669" y="2846784"/>
            <a:ext cx="1985963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Zagreb: O Coração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7669" y="3271838"/>
            <a:ext cx="3571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capital e maior cidade do país é </a:t>
            </a: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Zagreb</a:t>
            </a: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localizada no </a:t>
            </a: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noroeste, na região da Croácia Central.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7669" y="3729038"/>
            <a:ext cx="3571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Situada às margens do </a:t>
            </a: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rio Sava</a:t>
            </a: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 cidade é o centro </a:t>
            </a: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político, econômico e cultural da nação.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13" y="1221581"/>
            <a:ext cx="3929063" cy="25003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16451" y="3829050"/>
            <a:ext cx="1830586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0033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Zagreb, a vibrante capital croata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64681" y="285750"/>
            <a:ext cx="28146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História e Adoção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47669" y="1293019"/>
            <a:ext cx="357187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Um Marco de Independência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7669" y="1739503"/>
            <a:ext cx="3571875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bandeira da Croácia foi adotada oficialmente em </a:t>
            </a:r>
            <a:r>
              <a:rPr lang="en-US" sz="1100" b="1" dirty="0">
                <a:solidFill>
                  <a:srgbClr val="CC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de dezembro de 1990</a:t>
            </a: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um momento crucial que </a:t>
            </a: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antecedeu a independência do país.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7669" y="2636741"/>
            <a:ext cx="3571875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Sua criação foi um passo fundamental para a afirmação da identidade nacional croata perante o mundo.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7669" y="3533980"/>
            <a:ext cx="3571875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design integra cores eslavas tradicionais com o brasão histórico, simbolizando a transição para uma nova era de soberania e liberdade.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7213" y="1611948"/>
            <a:ext cx="3929063" cy="2500313"/>
          </a:xfrm>
          <a:prstGeom prst="rect">
            <a:avLst/>
          </a:prstGeom>
          <a:solidFill>
            <a:srgbClr val="FFFFFF"/>
          </a:solidFill>
          <a:ln w="54864">
            <a:solidFill>
              <a:srgbClr val="00339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13" y="1611948"/>
            <a:ext cx="3929063" cy="25003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52155" y="285750"/>
            <a:ext cx="3239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Cores e Significados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607219" y="1293019"/>
            <a:ext cx="2500313" cy="2209205"/>
          </a:xfrm>
          <a:prstGeom prst="rect">
            <a:avLst/>
          </a:prstGeom>
          <a:solidFill>
            <a:srgbClr val="FFFFFF"/>
          </a:solidFill>
          <a:ln w="54864">
            <a:solidFill>
              <a:srgbClr val="0033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1531" y="2221706"/>
            <a:ext cx="2071688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Vermelho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1531" y="2594967"/>
            <a:ext cx="20716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Simboliza a </a:t>
            </a: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coragem</a:t>
            </a:r>
            <a:r>
              <a:rPr lang="en-US" sz="9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 o sangue </a:t>
            </a:r>
            <a:r>
              <a:rPr lang="en-US" sz="9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derramado pelos heróis nacionais </a:t>
            </a:r>
            <a:r>
              <a:rPr lang="en-US" sz="9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 luta pela liberdade do país.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321844" y="1293019"/>
            <a:ext cx="2500313" cy="2209205"/>
          </a:xfrm>
          <a:prstGeom prst="rect">
            <a:avLst/>
          </a:prstGeom>
          <a:solidFill>
            <a:srgbClr val="FFFFFF"/>
          </a:solidFill>
          <a:ln w="54864">
            <a:solidFill>
              <a:srgbClr val="0033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36156" y="2221706"/>
            <a:ext cx="2071688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Branco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536156" y="2594967"/>
            <a:ext cx="20716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Representa a </a:t>
            </a: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paz</a:t>
            </a:r>
            <a:r>
              <a:rPr lang="en-US" sz="9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 pureza e a </a:t>
            </a:r>
            <a:r>
              <a:rPr lang="en-US" sz="9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liberdade conquistadas pelo povo </a:t>
            </a:r>
            <a:r>
              <a:rPr lang="en-US" sz="9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croata ao longo de sua história.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036469" y="1293019"/>
            <a:ext cx="2500313" cy="2209205"/>
          </a:xfrm>
          <a:prstGeom prst="rect">
            <a:avLst/>
          </a:prstGeom>
          <a:solidFill>
            <a:srgbClr val="FFFFFF"/>
          </a:solidFill>
          <a:ln w="54864">
            <a:solidFill>
              <a:srgbClr val="0033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50781" y="2221706"/>
            <a:ext cx="2071688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Azul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50781" y="2594967"/>
            <a:ext cx="20716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Simboliza a </a:t>
            </a: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lealdade</a:t>
            </a:r>
            <a:r>
              <a:rPr lang="en-US" sz="9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 a justiça, </a:t>
            </a:r>
            <a:r>
              <a:rPr lang="en-US" sz="9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refletindo a fé e a estabilidade </a:t>
            </a:r>
            <a:r>
              <a:rPr lang="en-US" sz="9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 instituições croatas.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53048" y="285750"/>
            <a:ext cx="3237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O Escudo Šahovnica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85813" y="1293019"/>
            <a:ext cx="357187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Símbolo de Identidade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85813" y="1739503"/>
            <a:ext cx="3571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</a:t>
            </a: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Šahovnica</a:t>
            </a: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 o padrão quadriculado em vermelho e </a:t>
            </a: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branco, símbolo histórico da nação croata há séculos.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85813" y="2339578"/>
            <a:ext cx="35718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Acima do escudo principal, há uma "coroa" com cinco pequenos brasões que representam as regiões históricas: Croácia, Dubrovnik, Dalmácia, Ístria e Eslavônia.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85813" y="3396853"/>
            <a:ext cx="3571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 brasão é tão icônico que inspira diretamente os uniformes das seleções nacionais, unindo esporte e patriotismo.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43500" y="1330523"/>
            <a:ext cx="3214688" cy="2857500"/>
          </a:xfrm>
          <a:prstGeom prst="rect">
            <a:avLst/>
          </a:prstGeom>
          <a:solidFill>
            <a:srgbClr val="FFFFFF"/>
          </a:solidFill>
          <a:ln w="54864">
            <a:solidFill>
              <a:srgbClr val="00339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094" y="1955992"/>
            <a:ext cx="2857500" cy="16065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53023" y="285750"/>
            <a:ext cx="36379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Hino: Contexto e Autor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47669" y="1293019"/>
            <a:ext cx="3571875" cy="2353866"/>
          </a:xfrm>
          <a:prstGeom prst="rect">
            <a:avLst/>
          </a:prstGeom>
          <a:solidFill>
            <a:srgbClr val="FFFFFF"/>
          </a:solidFill>
          <a:ln w="54864">
            <a:solidFill>
              <a:srgbClr val="0033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33419" y="1578769"/>
            <a:ext cx="3000375" cy="38219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Antun Mihanović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33419" y="2103834"/>
            <a:ext cx="30003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Poeta e diplomata croata, Mihanović é a mente por trás dos versos que se tornariam o símbolo máximo da nação. Em 1835, ele publicou o poema "Horvatska domovina" (Pátria Croata) no jornal literário Danica.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667213" y="1435894"/>
            <a:ext cx="3929063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O Despertar Nacional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667213" y="1844873"/>
            <a:ext cx="3929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criação do hino ocorreu durante o Movimento Ilírio, um período de renascimento cultural e político que buscava unificar os croatas através da língua e das artes.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667213" y="2709267"/>
            <a:ext cx="3929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composição musical, que deu vida aos versos de Mihanović, foi realizada anos depois por Josip Runjanin, consolidando a obra como um hino de resistência e orgulho.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836694" y="4248745"/>
            <a:ext cx="878681" cy="609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CC0000">
                    <a:alpha val="20000"/>
                  </a:srgbClr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1835</a:t>
            </a:r>
            <a:endParaRPr lang="en-US" sz="3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74491" y="285750"/>
            <a:ext cx="29950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Significado e Letra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964406" y="1364456"/>
            <a:ext cx="3214688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Amor pela Pátria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64406" y="1810941"/>
            <a:ext cx="3214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letra do hino é uma ode à beleza natural da Croácia, exaltando suas montanhas, rios e o mar.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64406" y="2411016"/>
            <a:ext cx="3214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Reflete o </a:t>
            </a: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profundo amor pela natureza</a:t>
            </a: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 a glória </a:t>
            </a: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histórica que une o povo croata através dos </a:t>
            </a: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séculos.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64406" y="3239691"/>
            <a:ext cx="3214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 um símbolo de resiliência e felicidade eterna desejada à nação.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07719" y="1221581"/>
            <a:ext cx="3571875" cy="2618184"/>
          </a:xfrm>
          <a:prstGeom prst="rect">
            <a:avLst/>
          </a:prstGeom>
          <a:solidFill>
            <a:srgbClr val="FFFFFF"/>
          </a:solidFill>
          <a:ln w="54864">
            <a:solidFill>
              <a:srgbClr val="0033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3469" y="1507331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LIJEPA NAŠA DOMOVINO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93469" y="1878806"/>
            <a:ext cx="3000375" cy="1440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44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Lijepa naša domovino,</a:t>
            </a:r>
            <a:r>
              <a:rPr lang="en-US" sz="1500" i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
</a:t>
            </a:r>
            <a:r>
              <a:rPr lang="en-US" sz="1500" i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Oj, junačka zemljo mila,</a:t>
            </a:r>
            <a:r>
              <a:rPr lang="en-US" sz="1500" i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
</a:t>
            </a:r>
            <a:r>
              <a:rPr lang="en-US" sz="1500" i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Stare slave djedovino,</a:t>
            </a:r>
            <a:r>
              <a:rPr lang="en-US" sz="1500" i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
</a:t>
            </a:r>
            <a:r>
              <a:rPr lang="en-US" sz="1500" i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 bi vazda sretna bila!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02173" y="285750"/>
            <a:ext cx="29396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O Legado Cultural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1357313" y="1435894"/>
            <a:ext cx="6429375" cy="3357535"/>
          </a:xfrm>
          <a:prstGeom prst="rect">
            <a:avLst/>
          </a:prstGeom>
          <a:solidFill>
            <a:srgbClr val="FFFFFF"/>
          </a:solidFill>
          <a:ln w="54864">
            <a:solidFill>
              <a:srgbClr val="0033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785938" y="1864519"/>
            <a:ext cx="5572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Símbolo de Resiliência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785938" y="2421731"/>
            <a:ext cx="5572125" cy="1234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44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hino "Lijepa naša domovino" transcende a música; ele é a voz de um povo que lutou por sua soberania. Desde sua criação em 1835 até a independência em 1991, os versos serviram como um lembrete constante da beleza e da força da terra croata.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785938" y="3941899"/>
            <a:ext cx="5572125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44000"/>
              </a:lnSpc>
              <a:buNone/>
            </a:pPr>
            <a:r>
              <a:rPr lang="en-US" sz="1200" b="1" i="1" dirty="0">
                <a:solidFill>
                  <a:srgbClr val="1A1A1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"Da bi vazda sretna bila!" — Que sejas sempre feliz!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31629" y="285750"/>
            <a:ext cx="30807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O Brilho do Bronze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93019"/>
            <a:ext cx="3571875" cy="3112889"/>
          </a:xfrm>
          <a:prstGeom prst="rect">
            <a:avLst/>
          </a:prstGeom>
          <a:solidFill>
            <a:srgbClr val="FFFFFF"/>
          </a:solidFill>
          <a:ln w="54864">
            <a:solidFill>
              <a:srgbClr val="0033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7250" y="1578769"/>
            <a:ext cx="3000375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1998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57250" y="2259211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spc="2" kern="0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FRANÇA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901130" y="2630686"/>
            <a:ext cx="912614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3º Lugar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7250" y="3091458"/>
            <a:ext cx="3000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 sua primeira participação como nação independente, a Croácia surpreendeu o mundo ao conquistar a medalha de bronze, revelando talentos como Davor Šuker.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00625" y="1293019"/>
            <a:ext cx="3571875" cy="3112889"/>
          </a:xfrm>
          <a:prstGeom prst="rect">
            <a:avLst/>
          </a:prstGeom>
          <a:solidFill>
            <a:srgbClr val="FFFFFF"/>
          </a:solidFill>
          <a:ln w="54864">
            <a:solidFill>
              <a:srgbClr val="0033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86375" y="1578769"/>
            <a:ext cx="3000375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2022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5286375" y="2259211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spc="2" kern="0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CATAR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30255" y="2630686"/>
            <a:ext cx="912614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3º Lugar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86375" y="3091458"/>
            <a:ext cx="3000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Croácia voltou ao pódio após uma campanha resiliente, marcada pela histórica eliminação do Brasil nas quartas de final, consolidando sua força no futebol moderno.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33327" y="285750"/>
            <a:ext cx="44773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O Vice-Campeonato de 2018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47669" y="1863068"/>
            <a:ext cx="3571875" cy="1746647"/>
          </a:xfrm>
          <a:prstGeom prst="rect">
            <a:avLst/>
          </a:prstGeom>
          <a:solidFill>
            <a:srgbClr val="FFFFFF"/>
          </a:solidFill>
          <a:ln w="54864">
            <a:solidFill>
              <a:srgbClr val="0033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33419" y="2205968"/>
            <a:ext cx="3000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2018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833419" y="2963205"/>
            <a:ext cx="300037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spc="2" kern="0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VICE-CAMPEÃ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667213" y="1293019"/>
            <a:ext cx="3929063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A Glória na Rússia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67213" y="1739503"/>
            <a:ext cx="3929063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Croácia conquistou a </a:t>
            </a:r>
            <a:r>
              <a:rPr lang="en-US" sz="11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melhor campanha de sua história</a:t>
            </a: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na Copa do Mundo da Rússia, encantando o </a:t>
            </a: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planeta com um futebol resiliente e técnico.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667213" y="2636741"/>
            <a:ext cx="3929063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Após superar três prorrogações consecutivas no mata-mata, a seleção chegou à grande final contra a França.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667213" y="3282525"/>
            <a:ext cx="3929063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Mesmo com o segundo lugar, o feito consolidou a Croácia como uma das maiores potências do futebol moderno.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0" y="4705945"/>
            <a:ext cx="914400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Local: Rússia | Final: Croácia 2 x 4 França | Destaque: Luka Modrić (Melhor do Mundo)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55664" y="285750"/>
            <a:ext cx="4232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Rumo a 2026 e Estatísticas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666741" y="1435894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América do Norte 2026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66741" y="1921669"/>
            <a:ext cx="3571875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Croácia já confirmou sua presença para a próxima Copa do Mundo, que será realizada nos EUA, México e Canadá.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6741" y="2854626"/>
            <a:ext cx="3571875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 marcará a </a:t>
            </a:r>
            <a:r>
              <a:rPr lang="en-US" sz="11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sétima participação</a:t>
            </a: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 seleção </a:t>
            </a: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croata em mundiais desde sua estreia como nação </a:t>
            </a:r>
            <a:r>
              <a:rPr lang="en-US" sz="11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independente.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66741" y="3859020"/>
            <a:ext cx="1728788" cy="29468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8" name="Text 5"/>
          <p:cNvSpPr/>
          <p:nvPr/>
        </p:nvSpPr>
        <p:spPr>
          <a:xfrm>
            <a:off x="666741" y="3859020"/>
            <a:ext cx="1728788" cy="294680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PRESENÇA CONFIRMADA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905356" y="1293019"/>
            <a:ext cx="3571875" cy="2494955"/>
          </a:xfrm>
          <a:prstGeom prst="rect">
            <a:avLst/>
          </a:prstGeom>
          <a:solidFill>
            <a:srgbClr val="FFFFFF"/>
          </a:solidFill>
          <a:ln w="54864">
            <a:solidFill>
              <a:srgbClr val="0033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91106" y="1578769"/>
            <a:ext cx="3000375" cy="35183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Resumo Histórico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191106" y="2144911"/>
            <a:ext cx="1419820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de Participações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044910" y="2144911"/>
            <a:ext cx="114657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C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(incluindo 2026)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91106" y="2455664"/>
            <a:ext cx="1291233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Medalhas de Bronze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269938" y="2455664"/>
            <a:ext cx="92154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C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(1998, 2022)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191106" y="2766417"/>
            <a:ext cx="12055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Vice-Campeonatos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655700" y="2766417"/>
            <a:ext cx="53578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C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(2018)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191106" y="3077170"/>
            <a:ext cx="98583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de Pódios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228861" y="3077170"/>
            <a:ext cx="96262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C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em 6 edições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40571" y="285750"/>
            <a:ext cx="286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Invenções e Raças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93019"/>
            <a:ext cx="3571875" cy="25503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93019"/>
            <a:ext cx="3571875" cy="5715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6" name="Text 3"/>
          <p:cNvSpPr/>
          <p:nvPr/>
        </p:nvSpPr>
        <p:spPr>
          <a:xfrm>
            <a:off x="857250" y="1578769"/>
            <a:ext cx="300037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1" kern="0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A GRAVATA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7250" y="2025253"/>
            <a:ext cx="3000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Você sabia que a gravata moderna tem origem na Croácia? No século XVII, soldados croatas usavam lenços distintos no pescoço que chamaram a atenção dos franceses.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57250" y="3082528"/>
            <a:ext cx="3000375" cy="266105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palavra "gravata" deriva diretamente de "kravat" (croata).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000625" y="1293019"/>
            <a:ext cx="3571875" cy="25503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5000625" y="1293019"/>
            <a:ext cx="3571875" cy="5715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11" name="Text 8"/>
          <p:cNvSpPr/>
          <p:nvPr/>
        </p:nvSpPr>
        <p:spPr>
          <a:xfrm>
            <a:off x="5286375" y="1578769"/>
            <a:ext cx="300037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1" kern="0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O CÃO DÁLMATA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286375" y="2025253"/>
            <a:ext cx="3000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Famosa mundialmente pelo filme "101 Dálmatas", esta raça elegante e manchada é nativa da região da Costa Dalmácia, na Croácia.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286375" y="3082528"/>
            <a:ext cx="3000375" cy="41790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Registros históricos confirmam a origem da raça na região desde o século XVIII.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48633" y="285750"/>
            <a:ext cx="24467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Lugares Únicos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666741" y="1293019"/>
            <a:ext cx="3571875" cy="2889647"/>
          </a:xfrm>
          <a:prstGeom prst="rect">
            <a:avLst/>
          </a:prstGeom>
          <a:solidFill>
            <a:srgbClr val="FFFFFF"/>
          </a:solidFill>
          <a:ln w="54864">
            <a:solidFill>
              <a:srgbClr val="0033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52491" y="1578769"/>
            <a:ext cx="2346722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Hum: A Menor Cidade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52491" y="2039541"/>
            <a:ext cx="3000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Localizada na região da Ístria, a cidade de Hum detém o recorde mundial do Guinness como a menor cidade do mundo.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52491" y="2725341"/>
            <a:ext cx="3000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 uma história que remonta à era medieval, este vilarejo fortificado preserva suas tradições e arquitetura antiga.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52491" y="3554016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Apenas 20 moradores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05356" y="1293019"/>
            <a:ext cx="3571875" cy="3118247"/>
          </a:xfrm>
          <a:prstGeom prst="rect">
            <a:avLst/>
          </a:prstGeom>
          <a:solidFill>
            <a:srgbClr val="FFFFFF"/>
          </a:solidFill>
          <a:ln w="54864">
            <a:solidFill>
              <a:srgbClr val="CC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91106" y="1578769"/>
            <a:ext cx="1723430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O Órgão do Mar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191106" y="2039541"/>
            <a:ext cx="3000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 Zadar, a arquitetura encontra a música no "Morske Orgulje". Este instrumento experimental é tocado pelas ondas do Mar Adriático.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191106" y="2953941"/>
            <a:ext cx="3000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Tubos localizados sob degraus de mármore criam sons harmônicos aleatórios conforme a força e o ritmo da água.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191106" y="3782616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Música feita pela natureza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75372" y="285750"/>
            <a:ext cx="3193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Natureza e Tradição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93019"/>
            <a:ext cx="3571875" cy="3012877"/>
          </a:xfrm>
          <a:prstGeom prst="rect">
            <a:avLst/>
          </a:prstGeom>
          <a:solidFill>
            <a:srgbClr val="FFFFFF"/>
          </a:solidFill>
          <a:ln w="54864">
            <a:solidFill>
              <a:srgbClr val="0033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7250" y="1578769"/>
            <a:ext cx="3000375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Ilha do Amor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57250" y="2039541"/>
            <a:ext cx="3000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Ilha de </a:t>
            </a: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Galesnjak</a:t>
            </a: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localizada no canal de </a:t>
            </a: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Pasman, é famosa mundialmente por seu </a:t>
            </a: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formato natural de coração perfeito.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57250" y="2868216"/>
            <a:ext cx="3000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Desabitada e cercada por águas cristalinas, tornou-se um símbolo romântico e um dos destinos mais fotografados da Croácia.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57250" y="3696891"/>
            <a:ext cx="300037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Formato de Coração Natural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00625" y="1293019"/>
            <a:ext cx="3571875" cy="3012877"/>
          </a:xfrm>
          <a:prstGeom prst="rect">
            <a:avLst/>
          </a:prstGeom>
          <a:solidFill>
            <a:srgbClr val="FFFFFF"/>
          </a:solidFill>
          <a:ln w="54864">
            <a:solidFill>
              <a:srgbClr val="CC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86375" y="1578769"/>
            <a:ext cx="3000375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Anfiteatro de Pula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286375" y="2039541"/>
            <a:ext cx="3000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cidade de Pula abriga um dos anfiteatros romanos mais bem preservados do mundo, construído no século I.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286375" y="2868216"/>
            <a:ext cx="3000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Diferente de muitas ruínas, a Arena de Pula ainda é utilizada hoje para concertos, festivais de cinema e eventos culturais.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286375" y="3696891"/>
            <a:ext cx="300037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99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Herança do Império Romano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2026-06-22T23:57:55Z</dcterms:created>
  <dcterms:modified xsi:type="dcterms:W3CDTF">2026-06-22T23:57:55Z</dcterms:modified>
</cp:coreProperties>
</file>